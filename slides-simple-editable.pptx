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6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009C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The Engine &amp; the Chassis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How We Talk to AI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EEDD"/>
                </a:solidFill>
                <a:latin typeface="Calibri"/>
              </a:rPr>
              <a:t>LLM = Engine  ·  Agentic Tool = Chassis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9C6D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3474720" cy="4114800"/>
          </a:xfrm>
          <a:prstGeom prst="rect">
            <a:avLst/>
          </a:prstGeom>
          <a:solidFill>
            <a:srgbClr val="F0FBF6"/>
          </a:solidFill>
          <a:ln w="19050">
            <a:solidFill>
              <a:srgbClr val="8DC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898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9C6D"/>
                </a:solidFill>
                <a:latin typeface="Calibri"/>
              </a:rPr>
              <a:t>🚗  The Standard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32004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Agentic tools today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2 minutes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280160"/>
            <a:ext cx="3474720" cy="4114800"/>
          </a:xfrm>
          <a:prstGeom prst="rect">
            <a:avLst/>
          </a:prstGeom>
          <a:solidFill>
            <a:srgbClr val="F0FBF6"/>
          </a:solidFill>
          <a:ln w="19050">
            <a:solidFill>
              <a:srgbClr val="8DC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3898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9C6D"/>
                </a:solidFill>
                <a:latin typeface="Calibri"/>
              </a:rPr>
              <a:t>🧩  Two Tools to Know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783080"/>
            <a:ext cx="32004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MCP servers &amp; Agent Skills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2 minutes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280160"/>
            <a:ext cx="3474720" cy="4114800"/>
          </a:xfrm>
          <a:prstGeom prst="rect">
            <a:avLst/>
          </a:prstGeom>
          <a:solidFill>
            <a:srgbClr val="F0FBF6"/>
          </a:solidFill>
          <a:ln w="19050">
            <a:solidFill>
              <a:srgbClr val="8DC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3898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9C6D"/>
                </a:solidFill>
                <a:latin typeface="Calibri"/>
              </a:rPr>
              <a:t>⌨️  opencode in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783080"/>
            <a:ext cx="32004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Live demo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1 minute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1672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6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DC9A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The Standard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8DC9AB"/>
                </a:solidFill>
                <a:latin typeface="Calibri"/>
              </a:rPr>
              <a:t>Agentic tools are now the standard way to talk to an 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9C6D"/>
                </a:solidFill>
                <a:latin typeface="Calibri"/>
              </a:rPr>
              <a:t>The Engine &amp; the Chassis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394960" cy="4846320"/>
          </a:xfrm>
          <a:prstGeom prst="rect">
            <a:avLst/>
          </a:prstGeom>
          <a:solidFill>
            <a:srgbClr val="F0FBF6"/>
          </a:solidFill>
          <a:ln w="19050">
            <a:solidFill>
              <a:srgbClr val="009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6984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9C6D"/>
                </a:solidFill>
                <a:latin typeface="Calibri"/>
              </a:rPr>
              <a:t>🔧  Engine = the 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1206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The model itself — raw intelligence and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language understanding. It generates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answers, writes code, reasons, translates.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Examples: Claude 4, GPT-4o,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Mistral Large, Llama 3…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(italic) You don't drive a bare engine.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960120"/>
            <a:ext cx="5394960" cy="4846320"/>
          </a:xfrm>
          <a:prstGeom prst="rect">
            <a:avLst/>
          </a:prstGeom>
          <a:solidFill>
            <a:srgbClr val="F0FBF6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06984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Calibri"/>
              </a:rPr>
              <a:t>🚗  Chassis = the Agentic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51206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The layer that makes the engine usable —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connects it to files, tools, context,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memory, and your workflow.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It reads files, runs commands,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browses the web, and iterates.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(italic) It transforms raw power into a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drivable experience.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1672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9C6D"/>
                </a:solidFill>
                <a:latin typeface="Calibri"/>
              </a:rPr>
              <a:t>The Landscape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2103120" cy="4754880"/>
          </a:xfrm>
          <a:prstGeom prst="rect">
            <a:avLst/>
          </a:prstGeom>
          <a:solidFill>
            <a:srgbClr val="F0FBF6"/>
          </a:solidFill>
          <a:ln w="19050">
            <a:solidFill>
              <a:srgbClr val="009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51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  <a:latin typeface="Calibri"/>
              </a:rPr>
              <a:t>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087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Claude Code
→ Claude Cowork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031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Calibri"/>
              </a:rPr>
              <a:t>Anthropic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423160"/>
            <a:ext cx="1920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  <a:latin typeface="Calibri"/>
              </a:rPr>
              <a:t>The first agentic tool. Cowork born when non-devs started using it — packaged for teams &amp; entities.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4805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9C6D"/>
                </a:solidFill>
                <a:latin typeface="Calibri"/>
              </a:rPr>
              <a:t>✓ available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60904" y="914400"/>
            <a:ext cx="2103120" cy="4754880"/>
          </a:xfrm>
          <a:prstGeom prst="rect">
            <a:avLst/>
          </a:prstGeom>
          <a:solidFill>
            <a:srgbClr val="F8F9FA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60904" y="1051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  <a:latin typeface="Calibri"/>
              </a:rPr>
              <a:t>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2344" y="15087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Codex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2344" y="21031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Calibri"/>
              </a:rPr>
              <a:t>OpenAI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2344" y="2423160"/>
            <a:ext cx="1920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  <a:latin typeface="Calibri"/>
              </a:rPr>
              <a:t>Unified CLI + open-source option — two strong bets from OpenAI.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52344" y="44805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4748B"/>
                </a:solidFill>
                <a:latin typeface="Calibri"/>
              </a:rPr>
              <a:t>✗ not available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01768" y="914400"/>
            <a:ext cx="2103120" cy="4754880"/>
          </a:xfrm>
          <a:prstGeom prst="rect">
            <a:avLst/>
          </a:prstGeom>
          <a:solidFill>
            <a:srgbClr val="F0FBF6"/>
          </a:solidFill>
          <a:ln w="19050">
            <a:solidFill>
              <a:srgbClr val="009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1768" y="1051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  <a:latin typeface="Calibri"/>
              </a:rPr>
              <a:t>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3208" y="15087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Mistral Vibe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3208" y="21031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Calibri"/>
              </a:rPr>
              <a:t>Mistral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3208" y="2423160"/>
            <a:ext cx="1920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  <a:latin typeface="Calibri"/>
              </a:rPr>
              <a:t>Our strategic partner's agentic tool.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3208" y="44805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9C6D"/>
                </a:solidFill>
                <a:latin typeface="Calibri"/>
              </a:rPr>
              <a:t>✓ available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42632" y="914400"/>
            <a:ext cx="2103120" cy="4754880"/>
          </a:xfrm>
          <a:prstGeom prst="rect">
            <a:avLst/>
          </a:prstGeom>
          <a:solidFill>
            <a:srgbClr val="F8F9F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42632" y="1051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  <a:latin typeface="Calibri"/>
              </a:rPr>
              <a:t>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15087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IBM Bob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4072" y="21031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Calibri"/>
              </a:rPr>
              <a:t>IBM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2423160"/>
            <a:ext cx="1920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  <a:latin typeface="Calibri"/>
              </a:rPr>
              <a:t>Currently in beta testing internally at BNP Paribas.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34072" y="44805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D97706"/>
                </a:solidFill>
                <a:latin typeface="Calibri"/>
              </a:rPr>
              <a:t>⚡ beta test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83496" y="914400"/>
            <a:ext cx="2103120" cy="4754880"/>
          </a:xfrm>
          <a:prstGeom prst="rect">
            <a:avLst/>
          </a:prstGeom>
          <a:solidFill>
            <a:srgbClr val="F0FBF6"/>
          </a:solidFill>
          <a:ln w="19050">
            <a:solidFill>
              <a:srgbClr val="009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83496" y="1051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  <a:latin typeface="Calibri"/>
              </a:rPr>
              <a:t>⚙️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74936" y="15087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opencode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74936" y="21031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Calibri"/>
              </a:rPr>
              <a:t>Open source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74936" y="2423160"/>
            <a:ext cx="1920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  <a:latin typeface="Calibri"/>
              </a:rPr>
              <a:t>Most popular open-source agentic tool. Huge community ecosystem.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74936" y="44805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9C6D"/>
                </a:solidFill>
                <a:latin typeface="Calibri"/>
              </a:rPr>
              <a:t>✓ available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1672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9C6D"/>
                </a:solidFill>
                <a:latin typeface="Calibri"/>
              </a:rPr>
              <a:t>The Limiting Factor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64240" cy="1280160"/>
          </a:xfrm>
          <a:prstGeom prst="rect">
            <a:avLst/>
          </a:prstGeom>
          <a:solidFill>
            <a:srgbClr val="FFF3E0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⚠️  A great chassis can't compensate for a weak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727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The underlying LLM remains the limiting factor. Whichever agentic tool you use, the quality of its output depends on the model it runs on — its reasoning, knowledge, and ability to follow instructions.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51760"/>
            <a:ext cx="5303520" cy="3474720"/>
          </a:xfrm>
          <a:prstGeom prst="rect">
            <a:avLst/>
          </a:prstGeom>
          <a:solidFill>
            <a:srgbClr val="F0FBF6"/>
          </a:solidFill>
          <a:ln w="19050">
            <a:solidFill>
              <a:srgbClr val="009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61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9C6D"/>
                </a:solidFill>
                <a:latin typeface="Calibri"/>
              </a:rPr>
              <a:t>✓  What the chassis brings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54680"/>
            <a:ext cx="50292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1A1A2E"/>
                </a:solidFill>
                <a:latin typeface="Calibri"/>
              </a:rPr>
              <a:t>• File access &amp; editing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A1A2E"/>
                </a:solidFill>
                <a:latin typeface="Calibri"/>
              </a:rPr>
              <a:t>• Command execution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A1A2E"/>
                </a:solidFill>
                <a:latin typeface="Calibri"/>
              </a:rPr>
              <a:t>• Tool integrations (MCP)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A1A2E"/>
                </a:solidFill>
                <a:latin typeface="Calibri"/>
              </a:rPr>
              <a:t>• Memory &amp; context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651760"/>
            <a:ext cx="5303520" cy="3474720"/>
          </a:xfrm>
          <a:prstGeom prst="rect">
            <a:avLst/>
          </a:prstGeom>
          <a:solidFill>
            <a:srgbClr val="F0FB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761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97706"/>
                </a:solidFill>
                <a:latin typeface="Calibri"/>
              </a:rPr>
              <a:t>⚠️  What only the LLM can provide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154680"/>
            <a:ext cx="50292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1A1A2E"/>
                </a:solidFill>
                <a:latin typeface="Calibri"/>
              </a:rPr>
              <a:t>• Reasoning quality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A1A2E"/>
                </a:solidFill>
                <a:latin typeface="Calibri"/>
              </a:rPr>
              <a:t>• Domain knowledge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A1A2E"/>
                </a:solidFill>
                <a:latin typeface="Calibri"/>
              </a:rPr>
              <a:t>• Code correctness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1A1A2E"/>
                </a:solidFill>
                <a:latin typeface="Calibri"/>
              </a:rPr>
              <a:t>• Avoiding hallucinations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1672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6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DC9A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Two Tools to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8DC9AB"/>
                </a:solidFill>
                <a:latin typeface="Calibri"/>
              </a:rPr>
              <a:t>MCP Servers  ·  Agent 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9C6D"/>
                </a:solidFill>
                <a:latin typeface="Calibri"/>
              </a:rPr>
              <a:t>Two Open Standards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solidFill>
            <a:srgbClr val="F3F0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C3AED"/>
                </a:solidFill>
                <a:latin typeface="Calibri"/>
              </a:rPr>
              <a:t>Born at Anthropic  →  Now open standards under Linux Foundation — Agentic AI Foundation (AAIF)  •  Works with any LLM 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5394960" cy="4297680"/>
          </a:xfrm>
          <a:prstGeom prst="rect">
            <a:avLst/>
          </a:prstGeom>
          <a:solidFill>
            <a:srgbClr val="F0FBF6"/>
          </a:solidFill>
          <a:ln w="19050">
            <a:solidFill>
              <a:srgbClr val="009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0136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9C6D"/>
                </a:solidFill>
                <a:latin typeface="Calibri"/>
              </a:rPr>
              <a:t>🔌  MCP Servers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512064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Model Context Protocol — a universal adapter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that plugs AI into your tools and data: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databases, SaaS platforms, APIs, browsers…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"Instead of copy-pasting, AI talks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directly to your tools."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691640"/>
            <a:ext cx="5394960" cy="4297680"/>
          </a:xfrm>
          <a:prstGeom prst="rect">
            <a:avLst/>
          </a:prstGeom>
          <a:solidFill>
            <a:srgbClr val="F0FBF6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0136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7C3AED"/>
                </a:solidFill>
                <a:latin typeface="Calibri"/>
              </a:rPr>
              <a:t>📋  Agent 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194560"/>
            <a:ext cx="512064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A reusable instruction sheet that teaches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the AI a repeatable task — packaged once,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available to everyone in your team.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"Write the recipe once.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Anyone can cook."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1672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9C6D"/>
                </a:solidFill>
                <a:latin typeface="Calibri"/>
              </a:rPr>
              <a:t>MCP Servers — Concrete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</a:rPr>
              <a:t>What it looks like in practice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394960" cy="713232"/>
          </a:xfrm>
          <a:prstGeom prst="rect">
            <a:avLst/>
          </a:prstGeom>
          <a:solidFill>
            <a:srgbClr val="F0FBF6"/>
          </a:solidFill>
          <a:ln w="12700">
            <a:solidFill>
              <a:srgbClr val="8DC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9047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C6D"/>
                </a:solidFill>
                <a:latin typeface="Calibri"/>
              </a:rPr>
              <a:t>🗄️ Postgres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490472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A1A2E"/>
                </a:solidFill>
                <a:latin typeface="Calibri"/>
              </a:rPr>
              <a:t>"How many users were created last month?"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394960" cy="713232"/>
          </a:xfrm>
          <a:prstGeom prst="rect">
            <a:avLst/>
          </a:prstGeom>
          <a:solidFill>
            <a:srgbClr val="F0FBF6"/>
          </a:solidFill>
          <a:ln w="12700">
            <a:solidFill>
              <a:srgbClr val="8DC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1343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C6D"/>
                </a:solidFill>
                <a:latin typeface="Calibri"/>
              </a:rPr>
              <a:t>📚 Context7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313432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A1A2E"/>
                </a:solidFill>
                <a:latin typeface="Calibri"/>
              </a:rPr>
              <a:t>"Migrate this app using the official Angular 20 docs"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63240"/>
            <a:ext cx="5394960" cy="713232"/>
          </a:xfrm>
          <a:prstGeom prst="rect">
            <a:avLst/>
          </a:prstGeom>
          <a:solidFill>
            <a:srgbClr val="F0FBF6"/>
          </a:solidFill>
          <a:ln w="12700">
            <a:solidFill>
              <a:srgbClr val="8DC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13639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C6D"/>
                </a:solidFill>
                <a:latin typeface="Calibri"/>
              </a:rPr>
              <a:t>☁️ AWS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136392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A1A2E"/>
                </a:solidFill>
                <a:latin typeface="Calibri"/>
              </a:rPr>
              <a:t>"Deploy the latest version to our UAT account"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86200"/>
            <a:ext cx="5394960" cy="713232"/>
          </a:xfrm>
          <a:prstGeom prst="rect">
            <a:avLst/>
          </a:prstGeom>
          <a:solidFill>
            <a:srgbClr val="F0FBF6"/>
          </a:solidFill>
          <a:ln w="12700">
            <a:solidFill>
              <a:srgbClr val="8DC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95935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C6D"/>
                </a:solidFill>
                <a:latin typeface="Calibri"/>
              </a:rPr>
              <a:t>📋 JIRA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959352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A1A2E"/>
                </a:solidFill>
                <a:latin typeface="Calibri"/>
              </a:rPr>
              <a:t>"Create a bug ticket for this issue"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709160"/>
            <a:ext cx="5394960" cy="713232"/>
          </a:xfrm>
          <a:prstGeom prst="rect">
            <a:avLst/>
          </a:prstGeom>
          <a:solidFill>
            <a:srgbClr val="F0FBF6"/>
          </a:solidFill>
          <a:ln w="12700">
            <a:solidFill>
              <a:srgbClr val="8DC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78231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C6D"/>
                </a:solidFill>
                <a:latin typeface="Calibri"/>
              </a:rPr>
              <a:t>🎭 Playwright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782312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A1A2E"/>
                </a:solidFill>
                <a:latin typeface="Calibri"/>
              </a:rPr>
              <a:t>"Improve the design of this page"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9144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</a:rPr>
              <a:t>Why it matters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1417320"/>
            <a:ext cx="5120640" cy="1097280"/>
          </a:xfrm>
          <a:prstGeom prst="rect">
            <a:avLst/>
          </a:prstGeom>
          <a:solidFill>
            <a:srgbClr val="F0FBF6"/>
          </a:solidFill>
          <a:ln w="19050">
            <a:solidFill>
              <a:srgbClr val="009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15087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💡  No more copy-pasting data between tools.
The AI reads and writes directly in your systems.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743200"/>
            <a:ext cx="5120640" cy="3291840"/>
          </a:xfrm>
          <a:prstGeom prst="rect">
            <a:avLst/>
          </a:prstGeom>
          <a:solidFill>
            <a:srgbClr val="F0FBF6"/>
          </a:solidFill>
          <a:ln w="19050">
            <a:solidFill>
              <a:srgbClr val="8DC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85292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9C6D"/>
                </a:solidFill>
                <a:latin typeface="Calibri"/>
              </a:rPr>
              <a:t>Ecosystem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246120"/>
            <a:ext cx="484632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🗄️ Databases   ☁️ Cloud   📊 SaaS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📖 Documentation   🔧 Dev tools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Hundreds of community servers 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1672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9C6D"/>
                </a:solidFill>
                <a:latin typeface="Calibri"/>
              </a:rPr>
              <a:t>Agent Skills — Concrete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</a:rPr>
              <a:t>What it looks like in practice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394960" cy="1188720"/>
          </a:xfrm>
          <a:prstGeom prst="rect">
            <a:avLst/>
          </a:prstGeom>
          <a:solidFill>
            <a:srgbClr val="F7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1A2E"/>
                </a:solidFill>
                <a:latin typeface="Calibr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50876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  <a:latin typeface="Calibri"/>
              </a:rPr>
              <a:t>Document creation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6232"/>
            <a:ext cx="4480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Calibri"/>
              </a:rPr>
              <a:t>"Generate a project summary presentation" → PowerPoint following company template, with standard cover page, logo, and formatting.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88920"/>
            <a:ext cx="5394960" cy="1188720"/>
          </a:xfrm>
          <a:prstGeom prst="rect">
            <a:avLst/>
          </a:prstGeom>
          <a:solidFill>
            <a:srgbClr val="F7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1A2E"/>
                </a:solidFill>
                <a:latin typeface="Calibri"/>
              </a:rP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88036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  <a:latin typeface="Calibri"/>
              </a:rPr>
              <a:t>Brand voice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832"/>
            <a:ext cx="4480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Calibri"/>
              </a:rPr>
              <a:t>"Write a client email about the delay" → Drafted in the company tone, with correct sign-off, disclaimers, and style.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160520"/>
            <a:ext cx="5394960" cy="1188720"/>
          </a:xfrm>
          <a:prstGeom prst="rect">
            <a:avLst/>
          </a:prstGeom>
          <a:solidFill>
            <a:srgbClr val="F7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1A2E"/>
                </a:solidFill>
                <a:latin typeface="Calibri"/>
              </a:rPr>
              <a:t>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25196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  <a:latin typeface="Calibri"/>
              </a:rPr>
              <a:t>Meeting recap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599432"/>
            <a:ext cx="4480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Calibri"/>
              </a:rPr>
              <a:t>"Summarize this meeting" → Structured recap with decisions, action items, and owners — ready to share.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9144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</a:rPr>
              <a:t>The key idea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1417320"/>
            <a:ext cx="5120640" cy="1005840"/>
          </a:xfrm>
          <a:prstGeom prst="rect">
            <a:avLst/>
          </a:prstGeom>
          <a:solidFill>
            <a:srgbClr val="F7F3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15087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📋  Write the recipe once.
Anyone can cook — no technical skills needed.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2606040"/>
            <a:ext cx="5120640" cy="3383280"/>
          </a:xfrm>
          <a:prstGeom prst="rect">
            <a:avLst/>
          </a:prstGeom>
          <a:solidFill>
            <a:srgbClr val="F0FBF6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71576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7C3AED"/>
                </a:solidFill>
                <a:latin typeface="Calibri"/>
              </a:rPr>
              <a:t>Skills are shareable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108960"/>
            <a:ext cx="484632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A skill built by one team can be packaged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and reused across the organization —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or published to the community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skills marketplace.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  <a:latin typeface="Calibri"/>
              </a:rPr>
              <a:t>No technical skills needed to use them.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1672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6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DC9A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opencode 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8DC9AB"/>
                </a:solidFill>
                <a:latin typeface="Calibri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9C6D"/>
                </a:solidFill>
                <a:latin typeface="Calibri"/>
              </a:rPr>
              <a:t>opencode —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645920" cy="347472"/>
          </a:xfrm>
          <a:prstGeom prst="rect">
            <a:avLst/>
          </a:prstGeom>
          <a:solidFill>
            <a:srgbClr val="F0FBF6"/>
          </a:solidFill>
          <a:ln w="12700">
            <a:solidFill>
              <a:srgbClr val="009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C6D"/>
                </a:solidFill>
                <a:latin typeface="Calibri"/>
              </a:rPr>
              <a:t>⌨️  opencode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9601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99999"/>
                </a:solidFill>
                <a:latin typeface="Calibri"/>
              </a:rPr>
              <a:t>Add your first demo scenario title 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  <a:ln w="19050">
            <a:solidFill>
              <a:srgbClr val="8DC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CCCCCC"/>
                </a:solidFill>
                <a:latin typeface="Calibri"/>
              </a:rPr>
              <a:t>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29184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BBBBB"/>
                </a:solidFill>
                <a:latin typeface="Calibri"/>
              </a:rPr>
              <a:t>Demo content — replace with screenshots or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3749039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CCCCCC"/>
                </a:solidFill>
                <a:latin typeface="Calibri"/>
              </a:rPr>
              <a:t>Add screenshots, bullet steps, or a live walkthrough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9C6D"/>
                </a:solidFill>
                <a:latin typeface="Calibri"/>
              </a:rPr>
              <a:t>opencode — Second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645920" cy="347472"/>
          </a:xfrm>
          <a:prstGeom prst="rect">
            <a:avLst/>
          </a:prstGeom>
          <a:solidFill>
            <a:srgbClr val="F0FBF6"/>
          </a:solidFill>
          <a:ln w="12700">
            <a:solidFill>
              <a:srgbClr val="009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C6D"/>
                </a:solidFill>
                <a:latin typeface="Calibri"/>
              </a:rPr>
              <a:t>⌨️  opencode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9601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99999"/>
                </a:solidFill>
                <a:latin typeface="Calibri"/>
              </a:rPr>
              <a:t>Add your second demo scenario title 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  <a:ln w="19050">
            <a:solidFill>
              <a:srgbClr val="8DC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CCCCCC"/>
                </a:solidFill>
                <a:latin typeface="Calibri"/>
              </a:rPr>
              <a:t>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29184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BBBBB"/>
                </a:solidFill>
                <a:latin typeface="Calibri"/>
              </a:rPr>
              <a:t>Demo content — replace with screenshots or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3749039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CCCCCC"/>
                </a:solidFill>
                <a:latin typeface="Calibri"/>
              </a:rPr>
              <a:t>Add screenshots, bullet steps, or a live walkthrough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6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DC9AB"/>
                </a:solidFill>
                <a:latin typeface="Calibri"/>
              </a:rPr>
              <a:t>This presentation was built WITH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3840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4348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EEDD"/>
                </a:solidFill>
                <a:latin typeface="Calibri"/>
              </a:rPr>
              <a:t>Email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3840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44348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EEDD"/>
                </a:solidFill>
                <a:latin typeface="Calibri"/>
              </a:rPr>
              <a:t>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840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4348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EEDD"/>
                </a:solidFill>
                <a:latin typeface="Calibri"/>
              </a:rPr>
              <a:t>Links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1672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AAAA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