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00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The Engine &amp; the Chassis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How We Talk to AI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EEDD"/>
                </a:solidFill>
                <a:latin typeface="Calibri"/>
              </a:rPr>
              <a:t>LLM = Engine  ·  Agentic Tool = Chassis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9C6D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4114800"/>
          </a:xfrm>
          <a:prstGeom prst="rect">
            <a:avLst/>
          </a:prstGeom>
          <a:solidFill>
            <a:srgbClr val="F0FBF6"/>
          </a:solidFill>
          <a:ln w="1905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9C6D"/>
                </a:solidFill>
                <a:latin typeface="Calibri"/>
              </a:rPr>
              <a:t>🚗  The Standard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Agentic tools today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2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474720" cy="4114800"/>
          </a:xfrm>
          <a:prstGeom prst="rect">
            <a:avLst/>
          </a:prstGeom>
          <a:solidFill>
            <a:srgbClr val="F0FBF6"/>
          </a:solidFill>
          <a:ln w="1905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9C6D"/>
                </a:solidFill>
                <a:latin typeface="Calibri"/>
              </a:rPr>
              <a:t>🧩  Two Tools to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MCP servers &amp; Agent Skills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474720" cy="4114800"/>
          </a:xfrm>
          <a:prstGeom prst="rect">
            <a:avLst/>
          </a:prstGeom>
          <a:solidFill>
            <a:srgbClr val="F0FBF6"/>
          </a:solidFill>
          <a:ln w="1905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9C6D"/>
                </a:solidFill>
                <a:latin typeface="Calibri"/>
              </a:rPr>
              <a:t>⌨️  opencode in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2004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Live demo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1 minute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DC9A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The Standard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DC9AB"/>
                </a:solidFill>
                <a:latin typeface="Calibri"/>
              </a:rPr>
              <a:t>Agentic tools are now the standard way to talk to an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The Engine &amp; the Chassis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394960" cy="4846320"/>
          </a:xfrm>
          <a:prstGeom prst="rect">
            <a:avLst/>
          </a:prstGeom>
          <a:solidFill>
            <a:srgbClr val="F0FBF6"/>
          </a:solidFill>
          <a:ln w="1905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98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C6D"/>
                </a:solidFill>
                <a:latin typeface="Calibri"/>
              </a:rPr>
              <a:t>🔧  Engine = the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The model itself — raw intelligence and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language understanding. It generates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answers, writes code, reasons, translates.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Examples: Claude 4, GPT-4o,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Mistral Large, Llama 3…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(italic) You don't drive a bare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394960" cy="4846320"/>
          </a:xfrm>
          <a:prstGeom prst="rect">
            <a:avLst/>
          </a:prstGeom>
          <a:solidFill>
            <a:srgbClr val="F0FB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698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Calibri"/>
              </a:rPr>
              <a:t>🚗  Chassis = the Agentic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The layer that makes the engine usable —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connects it to files, tools, context,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memory, and your workflow.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It reads files, runs commands,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browses the web, and iterates.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(italic) It transforms raw power into 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drivable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Landscape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657600" cy="2560320"/>
          </a:xfrm>
          <a:prstGeom prst="rect">
            <a:avLst/>
          </a:prstGeom>
          <a:solidFill>
            <a:srgbClr val="FFF8F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🤖  Claude Code
→ 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The first agentic tool. Cowork born when non-devs started using it — packaged for teams &amp; entities.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🔄 negotiation in progress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914400"/>
            <a:ext cx="3657600" cy="2560320"/>
          </a:xfrm>
          <a:prstGeom prst="rect">
            <a:avLst/>
          </a:prstGeom>
          <a:solidFill>
            <a:srgbClr val="F8F9FA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024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🧠 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536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OpenAI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783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Unified CLI + open-source option — two strong bets from OpenAI.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063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✗ not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8" y="914400"/>
            <a:ext cx="3657600" cy="2560320"/>
          </a:xfrm>
          <a:prstGeom prst="rect">
            <a:avLst/>
          </a:prstGeom>
          <a:solidFill>
            <a:srgbClr val="F0FBF6"/>
          </a:solidFill>
          <a:ln w="1905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8" y="1024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🌊  Mistral Vibe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1536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Mistral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8" y="1783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Our strategic partner's agentic tool.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3063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C6D"/>
                </a:solidFill>
                <a:latin typeface="Calibri"/>
              </a:rPr>
              <a:t>✓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3657600" cy="2560320"/>
          </a:xfrm>
          <a:prstGeom prst="rect">
            <a:avLst/>
          </a:prstGeom>
          <a:solidFill>
            <a:srgbClr val="FFF8F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13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🏢  IBM Bob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251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IBM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Experimentation currently underway internally.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52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🧪 experimentation in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399" y="3703320"/>
            <a:ext cx="3657600" cy="2560320"/>
          </a:xfrm>
          <a:prstGeom prst="rect">
            <a:avLst/>
          </a:prstGeom>
          <a:solidFill>
            <a:srgbClr val="F0FBF6"/>
          </a:solidFill>
          <a:ln w="1905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813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⚙️  opencode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3251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Open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572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Most popular open-source agentic tool. Huge community ecosystem.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852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C6D"/>
                </a:solidFill>
                <a:latin typeface="Calibri"/>
              </a:rPr>
              <a:t>✓ available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38" y="3703320"/>
            <a:ext cx="3657600" cy="2560320"/>
          </a:xfrm>
          <a:prstGeom prst="rect">
            <a:avLst/>
          </a:prstGeom>
          <a:solidFill>
            <a:srgbClr val="F8F9FA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198" y="38130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➕  And many more…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8" y="43251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Community &amp; Big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8" y="45720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Gemini CLI (Google), Continue (VS Code), OpenClaude, Amp, Cline, Cursor, Windsurf…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5852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ecosystem growing fast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The Limiting Factor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280160"/>
          </a:xfrm>
          <a:prstGeom prst="rect">
            <a:avLst/>
          </a:prstGeom>
          <a:solidFill>
            <a:srgbClr val="FFF3E0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⚠️  A great chassis can't compensate for a weak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The underlying LLM remains the limiting factor. Whichever agentic tool you use, the quality of its output depends on the model it runs on — its reasoning, knowledge, and ability to follow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303520" cy="3474720"/>
          </a:xfrm>
          <a:prstGeom prst="rect">
            <a:avLst/>
          </a:prstGeom>
          <a:solidFill>
            <a:srgbClr val="F0FBF6"/>
          </a:solidFill>
          <a:ln w="1905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C6D"/>
                </a:solidFill>
                <a:latin typeface="Calibri"/>
              </a:rPr>
              <a:t>🚗  Chassis are now nearly feature-equivalent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All major tools read files, run commands, use MCP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Real differentiator: open source vs. closed source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And popularity — community, plugins, integrations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Some vendors use the chassis for post-training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  (fine-tuning on real agentic tasks) — a growing 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651760"/>
            <a:ext cx="5303520" cy="3474720"/>
          </a:xfrm>
          <a:prstGeom prst="rect">
            <a:avLst/>
          </a:prstGeom>
          <a:solidFill>
            <a:srgbClr val="F0FB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7706"/>
                </a:solidFill>
                <a:latin typeface="Calibri"/>
              </a:rPr>
              <a:t>⚠️  The engine gap: frontier vs. small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Frontier models — Claude Opus/Sonnet, GPT-5, Kimi: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  deep reasoning, large context, best results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Small models — Gemma, Mistral Mini, GPT-OSS: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  faster &amp; cheaper, but limited on complex tasks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Choosing the right model matters as much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  as the chassis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DC9A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Two Concepts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DC9AB"/>
                </a:solidFill>
                <a:latin typeface="Calibri"/>
              </a:rPr>
              <a:t>MCP Servers  ·  Agent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Two Open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solidFill>
            <a:srgbClr val="F3F0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alibri"/>
              </a:rPr>
              <a:t>Born at Anthropic  →  Now open standards under Linux Foundation — Agentic AI Foundation (AAIF)  •  Works with any LLM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394960" cy="4297680"/>
          </a:xfrm>
          <a:prstGeom prst="rect">
            <a:avLst/>
          </a:prstGeom>
          <a:solidFill>
            <a:srgbClr val="F0FBF6"/>
          </a:solidFill>
          <a:ln w="1905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C6D"/>
                </a:solidFill>
                <a:latin typeface="Calibri"/>
              </a:rPr>
              <a:t>🔌  MCP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Model Context Protocol — a universal adapter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that plugs AI into your tools and data: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databases, SaaS platforms, APIs, browsers…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"Instead of copy-pasting, AI talks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directly to your tools."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394960" cy="4297680"/>
          </a:xfrm>
          <a:prstGeom prst="rect">
            <a:avLst/>
          </a:prstGeom>
          <a:solidFill>
            <a:srgbClr val="F0FBF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C3AED"/>
                </a:solidFill>
                <a:latin typeface="Calibri"/>
              </a:rPr>
              <a:t>📋  Agent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 reusable instruction sheet that teaches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the AI a repeatable task — packaged once,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available to everyone in your team.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"Write the recipe once.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Anyone can cook."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MCP Servers — Concrete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What it looks like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94960" cy="713232"/>
          </a:xfrm>
          <a:prstGeom prst="rect">
            <a:avLst/>
          </a:prstGeom>
          <a:solidFill>
            <a:srgbClr val="F0FBF6"/>
          </a:solidFill>
          <a:ln w="1270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C6D"/>
                </a:solidFill>
                <a:latin typeface="Calibri"/>
              </a:rPr>
              <a:t>🗄️ Postgres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9047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"How many users were created last month?"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713232"/>
          </a:xfrm>
          <a:prstGeom prst="rect">
            <a:avLst/>
          </a:prstGeom>
          <a:solidFill>
            <a:srgbClr val="F0FBF6"/>
          </a:solidFill>
          <a:ln w="1270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C6D"/>
                </a:solidFill>
                <a:latin typeface="Calibri"/>
              </a:rPr>
              <a:t>📚 Context7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1343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"Migrate this app using the official Angular 20 docs"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5394960" cy="713232"/>
          </a:xfrm>
          <a:prstGeom prst="rect">
            <a:avLst/>
          </a:prstGeom>
          <a:solidFill>
            <a:srgbClr val="F0FBF6"/>
          </a:solidFill>
          <a:ln w="1270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C6D"/>
                </a:solidFill>
                <a:latin typeface="Calibri"/>
              </a:rPr>
              <a:t>☁️ IBM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3639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"Deploy the latest version to our UAT account"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5394960" cy="713232"/>
          </a:xfrm>
          <a:prstGeom prst="rect">
            <a:avLst/>
          </a:prstGeom>
          <a:solidFill>
            <a:srgbClr val="F0FBF6"/>
          </a:solidFill>
          <a:ln w="1270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59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C6D"/>
                </a:solidFill>
                <a:latin typeface="Calibri"/>
              </a:rPr>
              <a:t>📋 JIRA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95935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"Create a bug ticket for this issue"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09160"/>
            <a:ext cx="5394960" cy="713232"/>
          </a:xfrm>
          <a:prstGeom prst="rect">
            <a:avLst/>
          </a:prstGeom>
          <a:solidFill>
            <a:srgbClr val="F0FBF6"/>
          </a:solidFill>
          <a:ln w="1270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82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C6D"/>
                </a:solidFill>
                <a:latin typeface="Calibri"/>
              </a:rPr>
              <a:t>🌐 Chrome Dev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78231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"Improve the design of this page"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The USB port of AI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417320"/>
            <a:ext cx="5120640" cy="4572000"/>
          </a:xfrm>
          <a:prstGeom prst="rect">
            <a:avLst/>
          </a:prstGeom>
          <a:solidFill>
            <a:srgbClr val="F0FBF6"/>
          </a:solidFill>
          <a:ln w="1905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5270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C6D"/>
                </a:solidFill>
                <a:latin typeface="Calibri"/>
              </a:rPr>
              <a:t>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92024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🗄️ Databases   ☁️ Cloud   📊 SaaS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📖 Documentation   🔧 Dev tools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Hundreds of community servers 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Agent Skills — Concrete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What it looks like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94960" cy="1188720"/>
          </a:xfrm>
          <a:prstGeom prst="rect">
            <a:avLst/>
          </a:prstGeom>
          <a:solidFill>
            <a:srgbClr val="F7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Document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623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Calibri"/>
              </a:rPr>
              <a:t>"Generate a project summary presentation" → PowerPoint following company template, with standard cover page, logo, and formatting.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5394960" cy="1188720"/>
          </a:xfrm>
          <a:prstGeom prst="rect">
            <a:avLst/>
          </a:prstGeom>
          <a:solidFill>
            <a:srgbClr val="F7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80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Brand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83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Calibri"/>
              </a:rPr>
              <a:t>"Write a client email about the delay" → Drafted in the company tone, with correct sign-off, disclaimers, and style.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5394960" cy="1188720"/>
          </a:xfrm>
          <a:prstGeom prst="rect">
            <a:avLst/>
          </a:prstGeom>
          <a:solidFill>
            <a:srgbClr val="F7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51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Application templating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9943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Calibri"/>
              </a:rPr>
              <a:t>"Bootstrap a new microservice" → Generates the full project structure following company standards: architecture, naming, CI config, README.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The key idea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417320"/>
            <a:ext cx="5120640" cy="1005840"/>
          </a:xfrm>
          <a:prstGeom prst="rect">
            <a:avLst/>
          </a:prstGeom>
          <a:solidFill>
            <a:srgbClr val="F7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5087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📋  Write the recipe once.
Anyone can cook — no technical skills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606040"/>
            <a:ext cx="5120640" cy="3383280"/>
          </a:xfrm>
          <a:prstGeom prst="rect">
            <a:avLst/>
          </a:prstGeom>
          <a:solidFill>
            <a:srgbClr val="F0FBF6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715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C3AED"/>
                </a:solidFill>
                <a:latin typeface="Calibri"/>
              </a:rPr>
              <a:t>Skills are shareable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08960"/>
            <a:ext cx="4846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 skill built by one team can be packaged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and reused across the organization —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or published to the community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skills marketplace.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No technical skills needed to use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DC9A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opencode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DC9AB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opencode —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347472"/>
          </a:xfrm>
          <a:prstGeom prst="rect">
            <a:avLst/>
          </a:prstGeom>
          <a:solidFill>
            <a:srgbClr val="F0FBF6"/>
          </a:solidFill>
          <a:ln w="1270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C6D"/>
                </a:solidFill>
                <a:latin typeface="Calibri"/>
              </a:rPr>
              <a:t>⌨️  opencode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960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Calibri"/>
              </a:rPr>
              <a:t>Add your first demo scenario title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  <a:ln w="1905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CCCCCC"/>
                </a:solidFill>
                <a:latin typeface="Calibri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91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BBBB"/>
                </a:solidFill>
                <a:latin typeface="Calibri"/>
              </a:rPr>
              <a:t>Demo content — replace with screenshots or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39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Add screenshots, bullet steps, or a live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C6D"/>
                </a:solidFill>
                <a:latin typeface="Calibri"/>
              </a:rPr>
              <a:t>opencode — Second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347472"/>
          </a:xfrm>
          <a:prstGeom prst="rect">
            <a:avLst/>
          </a:prstGeom>
          <a:solidFill>
            <a:srgbClr val="F0FBF6"/>
          </a:solidFill>
          <a:ln w="12700">
            <a:solidFill>
              <a:srgbClr val="009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C6D"/>
                </a:solidFill>
                <a:latin typeface="Calibri"/>
              </a:rPr>
              <a:t>⌨️  opencode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960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Calibri"/>
              </a:rPr>
              <a:t>Add your second demo scenario title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  <a:ln w="19050">
            <a:solidFill>
              <a:srgbClr val="8D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CCCCCC"/>
                </a:solidFill>
                <a:latin typeface="Calibri"/>
              </a:rP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918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BBBB"/>
                </a:solidFill>
                <a:latin typeface="Calibri"/>
              </a:rPr>
              <a:t>Demo content — replace with screenshots or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39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  <a:latin typeface="Calibri"/>
              </a:rPr>
              <a:t>Add screenshots, bullet steps, or a live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DC9AB"/>
                </a:solidFill>
                <a:latin typeface="Calibri"/>
              </a:rPr>
              <a:t>This presentation was built 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DD"/>
                </a:solidFill>
                <a:latin typeface="Calibri"/>
              </a:rPr>
              <a:t>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DD"/>
                </a:solidFill>
                <a:latin typeface="Calibri"/>
              </a:rP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DD"/>
                </a:solidFill>
                <a:latin typeface="Calibri"/>
              </a:rPr>
              <a:t>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